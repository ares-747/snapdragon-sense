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35.png" Type="http://schemas.openxmlformats.org/officeDocument/2006/relationships/image"/><Relationship Id="rId18" Target="../media/image36.png" Type="http://schemas.openxmlformats.org/officeDocument/2006/relationships/image"/><Relationship Id="rId19" Target="../media/image37.png" Type="http://schemas.openxmlformats.org/officeDocument/2006/relationships/image"/><Relationship Id="rId2" Target="../media/image20.png" Type="http://schemas.openxmlformats.org/officeDocument/2006/relationships/image"/><Relationship Id="rId20" Target="../media/image38.png" Type="http://schemas.openxmlformats.org/officeDocument/2006/relationships/image"/><Relationship Id="rId21" Target="../media/image39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png" Type="http://schemas.openxmlformats.org/officeDocument/2006/relationships/image"/><Relationship Id="rId12" Target="../media/image78.png" Type="http://schemas.openxmlformats.org/officeDocument/2006/relationships/image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Relationship Id="rId8" Target="../media/image74.png" Type="http://schemas.openxmlformats.org/officeDocument/2006/relationships/image"/><Relationship Id="rId9" Target="../media/image7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73598" y="1071335"/>
            <a:ext cx="12206584" cy="7936623"/>
          </a:xfrm>
          <a:custGeom>
            <a:avLst/>
            <a:gdLst/>
            <a:ahLst/>
            <a:cxnLst/>
            <a:rect r="r" b="b" t="t" l="l"/>
            <a:pathLst>
              <a:path h="7936623" w="12206584">
                <a:moveTo>
                  <a:pt x="0" y="0"/>
                </a:moveTo>
                <a:lnTo>
                  <a:pt x="12206584" y="0"/>
                </a:lnTo>
                <a:lnTo>
                  <a:pt x="12206584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7273" y="1935676"/>
            <a:ext cx="9208643" cy="336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630" spc="-172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Snapdragon Sense: AI-Powered Laptop Troubleshooting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5783021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7182" y="6402552"/>
            <a:ext cx="6896616" cy="2139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3102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Prototype AI assistant designed to diagnose and resolve laptop issues locally, ensuring </a:t>
            </a:r>
            <a:r>
              <a:rPr lang="en-US" sz="3102">
                <a:solidFill>
                  <a:srgbClr val="17A8D1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privacy</a:t>
            </a:r>
            <a:r>
              <a:rPr lang="en-US" sz="3102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3102">
                <a:solidFill>
                  <a:srgbClr val="17A8D1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efficiency</a:t>
            </a:r>
            <a:r>
              <a:rPr lang="en-US" sz="3102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on Snapdragon-powered HP PCs.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5233" y="1641443"/>
            <a:ext cx="7054795" cy="125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spc="-278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User Problem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995365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1967" y="3927723"/>
            <a:ext cx="4775987" cy="102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26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Diagnosing laptop issues is</a:t>
            </a:r>
          </a:p>
          <a:p>
            <a:pPr algn="l">
              <a:lnSpc>
                <a:spcPts val="4139"/>
              </a:lnSpc>
            </a:pPr>
            <a:r>
              <a:rPr lang="en-US" sz="2759" spc="-26" b="true">
                <a:solidFill>
                  <a:srgbClr val="24B2D6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complex</a:t>
            </a:r>
            <a:r>
              <a:rPr lang="en-US" sz="2759" spc="-26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759" spc="-26" b="true">
                <a:solidFill>
                  <a:srgbClr val="24B2D6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time-consuming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806" y="5463929"/>
            <a:ext cx="5192034" cy="102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26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Limited access to expert support without exposing </a:t>
            </a:r>
            <a:r>
              <a:rPr lang="en-US" sz="2759" spc="-26">
                <a:solidFill>
                  <a:srgbClr val="24E683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private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2826" y="7015196"/>
            <a:ext cx="5690087" cy="102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26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Dependence on cloud services raises </a:t>
            </a:r>
            <a:r>
              <a:rPr lang="en-US" sz="2759" spc="-26" b="true">
                <a:solidFill>
                  <a:srgbClr val="24B2D6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privacy</a:t>
            </a:r>
            <a:r>
              <a:rPr lang="en-US" sz="2759" spc="-26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759" spc="-26" b="true">
                <a:solidFill>
                  <a:srgbClr val="24B2D6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latency</a:t>
            </a:r>
            <a:r>
              <a:rPr lang="en-US" sz="2759" spc="-26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concerns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175196" y="3421712"/>
            <a:ext cx="3062584" cy="3443576"/>
          </a:xfrm>
          <a:custGeom>
            <a:avLst/>
            <a:gdLst/>
            <a:ahLst/>
            <a:cxnLst/>
            <a:rect r="r" b="b" t="t" l="l"/>
            <a:pathLst>
              <a:path h="3443576" w="3062584">
                <a:moveTo>
                  <a:pt x="0" y="0"/>
                </a:moveTo>
                <a:lnTo>
                  <a:pt x="3062584" y="0"/>
                </a:lnTo>
                <a:lnTo>
                  <a:pt x="306258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64195" y="6937618"/>
            <a:ext cx="1887715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351" spc="-22">
                <a:solidFill>
                  <a:srgbClr val="24B2D6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FRUSTRATED</a:t>
            </a:r>
          </a:p>
          <a:p>
            <a:pPr algn="ctr">
              <a:lnSpc>
                <a:spcPts val="3055"/>
              </a:lnSpc>
            </a:pPr>
            <a:r>
              <a:rPr lang="en-US" b="true" sz="2351" spc="-22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USER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008086" y="4919394"/>
            <a:ext cx="885962" cy="448211"/>
          </a:xfrm>
          <a:custGeom>
            <a:avLst/>
            <a:gdLst/>
            <a:ahLst/>
            <a:cxnLst/>
            <a:rect r="r" b="b" t="t" l="l"/>
            <a:pathLst>
              <a:path h="448211" w="885962">
                <a:moveTo>
                  <a:pt x="0" y="0"/>
                </a:moveTo>
                <a:lnTo>
                  <a:pt x="885962" y="0"/>
                </a:lnTo>
                <a:lnTo>
                  <a:pt x="88596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83110" y="3421712"/>
            <a:ext cx="3051646" cy="3443576"/>
          </a:xfrm>
          <a:custGeom>
            <a:avLst/>
            <a:gdLst/>
            <a:ahLst/>
            <a:cxnLst/>
            <a:rect r="r" b="b" t="t" l="l"/>
            <a:pathLst>
              <a:path h="3443576" w="3051646">
                <a:moveTo>
                  <a:pt x="0" y="0"/>
                </a:moveTo>
                <a:lnTo>
                  <a:pt x="3051646" y="0"/>
                </a:lnTo>
                <a:lnTo>
                  <a:pt x="305164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80833" y="6937618"/>
            <a:ext cx="2614466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351" spc="-22">
                <a:solidFill>
                  <a:srgbClr val="24B2D6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COMPLEX</a:t>
            </a:r>
          </a:p>
          <a:p>
            <a:pPr algn="ctr">
              <a:lnSpc>
                <a:spcPts val="3055"/>
              </a:lnSpc>
            </a:pPr>
            <a:r>
              <a:rPr lang="en-US" b="true" sz="2351" spc="-22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ERROR MESSAGES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716000" y="4919394"/>
            <a:ext cx="875024" cy="448211"/>
          </a:xfrm>
          <a:custGeom>
            <a:avLst/>
            <a:gdLst/>
            <a:ahLst/>
            <a:cxnLst/>
            <a:rect r="r" b="b" t="t" l="l"/>
            <a:pathLst>
              <a:path h="448211" w="875024">
                <a:moveTo>
                  <a:pt x="0" y="0"/>
                </a:moveTo>
                <a:lnTo>
                  <a:pt x="875024" y="0"/>
                </a:lnTo>
                <a:lnTo>
                  <a:pt x="87502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361330" y="3421712"/>
            <a:ext cx="3281340" cy="3443576"/>
          </a:xfrm>
          <a:custGeom>
            <a:avLst/>
            <a:gdLst/>
            <a:ahLst/>
            <a:cxnLst/>
            <a:rect r="r" b="b" t="t" l="l"/>
            <a:pathLst>
              <a:path h="3443576" w="3281340">
                <a:moveTo>
                  <a:pt x="0" y="0"/>
                </a:moveTo>
                <a:lnTo>
                  <a:pt x="3281340" y="0"/>
                </a:lnTo>
                <a:lnTo>
                  <a:pt x="328134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519107" y="6937618"/>
            <a:ext cx="2940426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351" spc="-22">
                <a:solidFill>
                  <a:srgbClr val="61C039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PRIVACY &amp; LATENCY</a:t>
            </a:r>
          </a:p>
          <a:p>
            <a:pPr algn="ctr">
              <a:lnSpc>
                <a:spcPts val="3055"/>
              </a:lnSpc>
            </a:pPr>
            <a:r>
              <a:rPr lang="en-US" b="true" sz="2351" spc="-22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RISKS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354" y="7707051"/>
            <a:ext cx="8061158" cy="1945894"/>
          </a:xfrm>
          <a:custGeom>
            <a:avLst/>
            <a:gdLst/>
            <a:ahLst/>
            <a:cxnLst/>
            <a:rect r="r" b="b" t="t" l="l"/>
            <a:pathLst>
              <a:path h="1945894" w="8061158">
                <a:moveTo>
                  <a:pt x="0" y="0"/>
                </a:moveTo>
                <a:lnTo>
                  <a:pt x="8061158" y="0"/>
                </a:lnTo>
                <a:lnTo>
                  <a:pt x="806115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40708" y="5138034"/>
            <a:ext cx="6103292" cy="4296271"/>
          </a:xfrm>
          <a:custGeom>
            <a:avLst/>
            <a:gdLst/>
            <a:ahLst/>
            <a:cxnLst/>
            <a:rect r="r" b="b" t="t" l="l"/>
            <a:pathLst>
              <a:path h="4296271" w="6103292">
                <a:moveTo>
                  <a:pt x="0" y="0"/>
                </a:moveTo>
                <a:lnTo>
                  <a:pt x="6103292" y="0"/>
                </a:lnTo>
                <a:lnTo>
                  <a:pt x="610329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75196" y="2569017"/>
            <a:ext cx="3281340" cy="6220301"/>
          </a:xfrm>
          <a:custGeom>
            <a:avLst/>
            <a:gdLst/>
            <a:ahLst/>
            <a:cxnLst/>
            <a:rect r="r" b="b" t="t" l="l"/>
            <a:pathLst>
              <a:path h="6220301" w="3281340">
                <a:moveTo>
                  <a:pt x="0" y="0"/>
                </a:moveTo>
                <a:lnTo>
                  <a:pt x="3281340" y="0"/>
                </a:lnTo>
                <a:lnTo>
                  <a:pt x="3281340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45598" y="1924030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45598" y="3848060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45598" y="5783021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45598" y="7707051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9329" y="1125260"/>
            <a:ext cx="8397586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162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Proposed Solution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2350377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0712" y="3168324"/>
            <a:ext cx="5259262" cy="183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52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 AI-powered troubleshooting assistant that delivers accurate, </a:t>
            </a:r>
            <a:r>
              <a:rPr lang="en-US" sz="2526" b="true">
                <a:solidFill>
                  <a:srgbClr val="16A0C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private,</a:t>
            </a:r>
            <a:r>
              <a:rPr lang="en-US" sz="252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26">
                <a:solidFill>
                  <a:srgbClr val="36C279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252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26">
                <a:solidFill>
                  <a:srgbClr val="36C279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reliable</a:t>
            </a:r>
            <a:r>
              <a:rPr lang="en-US" sz="252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laptop support—built for the future.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53194" y="2682388"/>
            <a:ext cx="4298590" cy="74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Analyzes user-provided or simulated device metrics locally.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73619" y="4082712"/>
            <a:ext cx="2256019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true">
                <a:solidFill>
                  <a:srgbClr val="16A0C9"/>
                </a:solidFill>
                <a:latin typeface="Roboto Bold"/>
                <a:ea typeface="Roboto Bold"/>
                <a:cs typeface="Roboto Bold"/>
                <a:sym typeface="Roboto Bold"/>
              </a:rPr>
              <a:t>INTERACTIVE UI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53015" y="4549932"/>
            <a:ext cx="4316461" cy="74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Streamlit-based interface for simple </a:t>
            </a:r>
          </a:p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and guided user interaction.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73571" y="5980377"/>
            <a:ext cx="2260912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true">
                <a:solidFill>
                  <a:srgbClr val="16A0C9"/>
                </a:solidFill>
                <a:latin typeface="Roboto Bold"/>
                <a:ea typeface="Roboto Bold"/>
                <a:cs typeface="Roboto Bold"/>
                <a:sym typeface="Roboto Bold"/>
              </a:rPr>
              <a:t>SAFE FALLBACK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47991" y="6462865"/>
            <a:ext cx="4818865" cy="74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Rules-based backup ensures dependable guidance when AI is uncertain.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96180" y="7995672"/>
            <a:ext cx="4822031" cy="3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61B641"/>
                </a:solidFill>
                <a:latin typeface="Roboto Bold"/>
                <a:ea typeface="Roboto Bold"/>
                <a:cs typeface="Roboto Bold"/>
                <a:sym typeface="Roboto Bold"/>
              </a:rPr>
              <a:t>BUILT FOR PRIVACY &amp; EFFICIENCY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313" y="8435630"/>
            <a:ext cx="4386644" cy="112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Designed for future Snapdragon-powered HP laptops with privacy and efficiency at the core.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64864" y="2215167"/>
            <a:ext cx="3131565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true">
                <a:solidFill>
                  <a:srgbClr val="16A0C9"/>
                </a:solidFill>
                <a:latin typeface="Roboto Bold"/>
                <a:ea typeface="Roboto Bold"/>
                <a:cs typeface="Roboto Bold"/>
                <a:sym typeface="Roboto Bold"/>
              </a:rPr>
              <a:t>AI-DRIVEN DIAGNOSIS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73598" y="1924030"/>
            <a:ext cx="11769072" cy="7510275"/>
          </a:xfrm>
          <a:custGeom>
            <a:avLst/>
            <a:gdLst/>
            <a:ahLst/>
            <a:cxnLst/>
            <a:rect r="r" b="b" t="t" l="l"/>
            <a:pathLst>
              <a:path h="7510275" w="11769072">
                <a:moveTo>
                  <a:pt x="0" y="0"/>
                </a:moveTo>
                <a:lnTo>
                  <a:pt x="11769072" y="0"/>
                </a:lnTo>
                <a:lnTo>
                  <a:pt x="11769072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5327" y="591878"/>
            <a:ext cx="9403247" cy="106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3"/>
              </a:lnSpc>
            </a:pPr>
            <a:r>
              <a:rPr lang="en-US" sz="8013" spc="-23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User Journey &amp; Demo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1705390"/>
            <a:ext cx="1104718" cy="448211"/>
          </a:xfrm>
          <a:custGeom>
            <a:avLst/>
            <a:gdLst/>
            <a:ahLst/>
            <a:cxnLst/>
            <a:rect r="r" b="b" t="t" l="l"/>
            <a:pathLst>
              <a:path h="448211" w="1104718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2350377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842" y="321400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4066699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2842" y="491939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330" y="5990729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2842" y="6854356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5330" y="7707051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05921" y="2360423"/>
            <a:ext cx="1041456" cy="41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548" spc="-24" b="true">
                <a:solidFill>
                  <a:srgbClr val="1090C6"/>
                </a:solidFill>
                <a:latin typeface="Roboto Bold"/>
                <a:ea typeface="Roboto Bold"/>
                <a:cs typeface="Roboto Bold"/>
                <a:sym typeface="Roboto Bold"/>
              </a:rPr>
              <a:t>Launch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89234" y="2932011"/>
            <a:ext cx="2710236" cy="64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995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opens the Streamlit</a:t>
            </a:r>
          </a:p>
          <a:p>
            <a:pPr algn="l">
              <a:lnSpc>
                <a:spcPts val="2593"/>
              </a:lnSpc>
            </a:pPr>
            <a:r>
              <a:rPr lang="en-US" sz="1995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interface on their laptop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8178" y="4741600"/>
            <a:ext cx="2815833" cy="6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enters symptoms</a:t>
            </a:r>
          </a:p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 collects system metrics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03168" y="5954094"/>
            <a:ext cx="1316806" cy="40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496" spc="-24" b="true">
                <a:solidFill>
                  <a:srgbClr val="1090C6"/>
                </a:solidFill>
                <a:latin typeface="Roboto Bold"/>
                <a:ea typeface="Roboto Bold"/>
                <a:cs typeface="Roboto Bold"/>
                <a:sym typeface="Roboto Bold"/>
              </a:rPr>
              <a:t>Diagnose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85914" y="6531552"/>
            <a:ext cx="3042161" cy="64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995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model analyzes data and returns likely root causes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88280" y="8368724"/>
            <a:ext cx="2805586" cy="64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1955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follows guided steps</a:t>
            </a:r>
          </a:p>
          <a:p>
            <a:pPr algn="l">
              <a:lnSpc>
                <a:spcPts val="2541"/>
              </a:lnSpc>
            </a:pPr>
            <a:r>
              <a:rPr lang="en-US" sz="1955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 fallback advice to fix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54801" y="2685892"/>
            <a:ext cx="2650377" cy="40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496" spc="-2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Snapdragon Sense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580086" y="2776725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12708" y="364035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12708" y="4493047"/>
            <a:ext cx="3062584" cy="874559"/>
          </a:xfrm>
          <a:custGeom>
            <a:avLst/>
            <a:gdLst/>
            <a:ahLst/>
            <a:cxnLst/>
            <a:rect r="r" b="b" t="t" l="l"/>
            <a:pathLst>
              <a:path h="874559" w="3062584">
                <a:moveTo>
                  <a:pt x="0" y="0"/>
                </a:moveTo>
                <a:lnTo>
                  <a:pt x="3062584" y="0"/>
                </a:lnTo>
                <a:lnTo>
                  <a:pt x="306258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26842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612708" y="5990729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101866" y="3640352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116072" y="4671327"/>
            <a:ext cx="2817847" cy="74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2776" indent="-121388" lvl="1">
              <a:lnSpc>
                <a:spcPts val="2024"/>
              </a:lnSpc>
              <a:buFont typeface="Arial"/>
              <a:buChar char="•"/>
            </a:pPr>
            <a:r>
              <a:rPr lang="en-US" sz="1125" spc="-10">
                <a:solidFill>
                  <a:srgbClr val="258FB2"/>
                </a:solidFill>
                <a:latin typeface="Roboto"/>
                <a:ea typeface="Roboto"/>
                <a:cs typeface="Roboto"/>
                <a:sym typeface="Roboto"/>
              </a:rPr>
              <a:t> High CPU usage by background process</a:t>
            </a:r>
          </a:p>
          <a:p>
            <a:pPr algn="l" marL="242776" indent="-121388" lvl="1">
              <a:lnSpc>
                <a:spcPts val="2024"/>
              </a:lnSpc>
              <a:buFont typeface="Arial"/>
              <a:buChar char="•"/>
            </a:pPr>
            <a:r>
              <a:rPr lang="en-US" sz="1125" spc="-10">
                <a:solidFill>
                  <a:srgbClr val="258FB2"/>
                </a:solidFill>
                <a:latin typeface="Roboto"/>
                <a:ea typeface="Roboto"/>
                <a:cs typeface="Roboto"/>
                <a:sym typeface="Roboto"/>
              </a:rPr>
              <a:t>Thermal throttling detected</a:t>
            </a:r>
          </a:p>
          <a:p>
            <a:pPr algn="l" marL="242776" indent="-121388" lvl="1">
              <a:lnSpc>
                <a:spcPts val="2024"/>
              </a:lnSpc>
              <a:buFont typeface="Arial"/>
              <a:buChar char="•"/>
            </a:pPr>
            <a:r>
              <a:rPr lang="en-US" sz="1125" spc="-10">
                <a:solidFill>
                  <a:srgbClr val="258FB2"/>
                </a:solidFill>
                <a:latin typeface="Roboto"/>
                <a:ea typeface="Roboto"/>
                <a:cs typeface="Roboto"/>
                <a:sym typeface="Roboto"/>
              </a:rPr>
              <a:t>Low disk space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101866" y="5990729"/>
            <a:ext cx="437512" cy="448211"/>
          </a:xfrm>
          <a:custGeom>
            <a:avLst/>
            <a:gdLst/>
            <a:ahLst/>
            <a:cxnLst/>
            <a:rect r="r" b="b" t="t" l="l"/>
            <a:pathLst>
              <a:path h="448211" w="437512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101866" y="642800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118344" y="6496478"/>
            <a:ext cx="2590591" cy="99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2776" indent="-121388" lvl="1">
              <a:lnSpc>
                <a:spcPts val="2024"/>
              </a:lnSpc>
              <a:buFont typeface="Arial"/>
              <a:buChar char="•"/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Close heavy background apps</a:t>
            </a:r>
          </a:p>
          <a:p>
            <a:pPr algn="l" marL="242776" indent="-121388" lvl="1">
              <a:lnSpc>
                <a:spcPts val="2024"/>
              </a:lnSpc>
              <a:buFont typeface="Arial"/>
              <a:buChar char="•"/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 laptop vents and ensure airflow</a:t>
            </a:r>
          </a:p>
          <a:p>
            <a:pPr algn="l" marL="242776" indent="-121388" lvl="1">
              <a:lnSpc>
                <a:spcPts val="2024"/>
              </a:lnSpc>
              <a:buFont typeface="Arial"/>
              <a:buChar char="•"/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Update system drivers</a:t>
            </a:r>
          </a:p>
          <a:p>
            <a:pPr algn="l" marL="242776" indent="-121388" lvl="1">
              <a:lnSpc>
                <a:spcPts val="2024"/>
              </a:lnSpc>
              <a:buFont typeface="Arial"/>
              <a:buChar char="•"/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Restart and monitor performance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923818" y="5783021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239723" y="6205133"/>
            <a:ext cx="1205791" cy="19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283" spc="-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Need more help?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37845" y="6408219"/>
            <a:ext cx="1393646" cy="63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Try our fallback actions or contact support.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142574" y="7062064"/>
            <a:ext cx="1542230" cy="655919"/>
          </a:xfrm>
          <a:custGeom>
            <a:avLst/>
            <a:gdLst/>
            <a:ahLst/>
            <a:cxnLst/>
            <a:rect r="r" b="b" t="t" l="l"/>
            <a:pathLst>
              <a:path h="655919" w="1542230">
                <a:moveTo>
                  <a:pt x="0" y="0"/>
                </a:moveTo>
                <a:lnTo>
                  <a:pt x="1542230" y="0"/>
                </a:lnTo>
                <a:lnTo>
                  <a:pt x="154223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455623" y="7250836"/>
            <a:ext cx="1047035" cy="18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10" b="true">
                <a:solidFill>
                  <a:srgbClr val="59A83F"/>
                </a:solidFill>
                <a:latin typeface="Roboto Bold"/>
                <a:ea typeface="Roboto Bold"/>
                <a:cs typeface="Roboto Bold"/>
                <a:sym typeface="Roboto Bold"/>
              </a:rPr>
              <a:t>Fallback actions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56171" y="3141913"/>
            <a:ext cx="2513388" cy="19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230" spc="-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AI-Powered Laptop Troubleshooting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70056" y="4725992"/>
            <a:ext cx="2556091" cy="24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2776" indent="-121388" lvl="1">
              <a:lnSpc>
                <a:spcPts val="2024"/>
              </a:lnSpc>
              <a:buFont typeface="Arial"/>
              <a:buChar char="•"/>
            </a:pPr>
            <a:r>
              <a:rPr lang="en-US" sz="1125" spc="-10">
                <a:solidFill>
                  <a:srgbClr val="FFFFFF">
                    <a:alpha val="4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e.g., laptop is slow and fans are loud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05122" y="7806577"/>
            <a:ext cx="1121361" cy="40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496" spc="-24" b="true">
                <a:solidFill>
                  <a:srgbClr val="59A83F"/>
                </a:solidFill>
                <a:latin typeface="Roboto Bold"/>
                <a:ea typeface="Roboto Bold"/>
                <a:cs typeface="Roboto Bold"/>
                <a:sym typeface="Roboto Bold"/>
              </a:rPr>
              <a:t>Resolve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75511" y="6009436"/>
            <a:ext cx="1699667" cy="21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406" spc="-13" b="true">
                <a:solidFill>
                  <a:srgbClr val="59A83F"/>
                </a:solidFill>
                <a:latin typeface="Roboto Bold"/>
                <a:ea typeface="Roboto Bold"/>
                <a:cs typeface="Roboto Bold"/>
                <a:sym typeface="Roboto Bold"/>
              </a:rPr>
              <a:t>Recommended steps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75914" y="3810554"/>
            <a:ext cx="1659338" cy="21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406" spc="-13" b="true">
                <a:solidFill>
                  <a:srgbClr val="1090C6"/>
                </a:solidFill>
                <a:latin typeface="Roboto Bold"/>
                <a:ea typeface="Roboto Bold"/>
                <a:cs typeface="Roboto Bold"/>
                <a:sym typeface="Roboto Bold"/>
              </a:rPr>
              <a:t>Diagnostic summary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75426" y="3810554"/>
            <a:ext cx="1487100" cy="21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406" spc="-13" b="true">
                <a:solidFill>
                  <a:srgbClr val="1090C6"/>
                </a:solidFill>
                <a:latin typeface="Roboto Bold"/>
                <a:ea typeface="Roboto Bold"/>
                <a:cs typeface="Roboto Bold"/>
                <a:sym typeface="Roboto Bold"/>
              </a:rPr>
              <a:t>Describe the issue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54084" y="4224722"/>
            <a:ext cx="1474423" cy="3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Tell us what's happening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108208" y="4160920"/>
            <a:ext cx="812844" cy="39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443" spc="-23" b="true">
                <a:solidFill>
                  <a:srgbClr val="1090C6"/>
                </a:solidFill>
                <a:latin typeface="Roboto Bold"/>
                <a:ea typeface="Roboto Bold"/>
                <a:cs typeface="Roboto Bold"/>
                <a:sym typeface="Roboto Bold"/>
              </a:rPr>
              <a:t>Share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55395" y="5369346"/>
            <a:ext cx="1343312" cy="3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Collect system metrics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669322" y="2763821"/>
            <a:ext cx="1108430" cy="3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 connected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36184" y="4224722"/>
            <a:ext cx="806551" cy="3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Likely causes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62296" y="7931618"/>
            <a:ext cx="218915" cy="59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0"/>
              </a:lnSpc>
            </a:pPr>
            <a:r>
              <a:rPr lang="en-US" b="true" sz="3755" spc="-36">
                <a:solidFill>
                  <a:srgbClr val="59A83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2296" y="2539837"/>
            <a:ext cx="218915" cy="59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0"/>
              </a:lnSpc>
            </a:pPr>
            <a:r>
              <a:rPr lang="en-US" b="true" sz="3755" spc="-36">
                <a:solidFill>
                  <a:srgbClr val="1090C6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2296" y="4332077"/>
            <a:ext cx="218915" cy="59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0"/>
              </a:lnSpc>
            </a:pPr>
            <a:r>
              <a:rPr lang="en-US" b="true" sz="3755" spc="-36">
                <a:solidFill>
                  <a:srgbClr val="1090C6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2296" y="6124317"/>
            <a:ext cx="218915" cy="59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0"/>
              </a:lnSpc>
            </a:pPr>
            <a:r>
              <a:rPr lang="en-US" b="true" sz="3755" spc="-36">
                <a:solidFill>
                  <a:srgbClr val="1090C6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226034" y="6167571"/>
            <a:ext cx="479156" cy="3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4" spc="-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Analyze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6350" y="1652389"/>
            <a:ext cx="11621986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403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AI &amp; Technical Architecture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77672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3640352"/>
            <a:ext cx="3500096" cy="3224936"/>
          </a:xfrm>
          <a:custGeom>
            <a:avLst/>
            <a:gdLst/>
            <a:ahLst/>
            <a:cxnLst/>
            <a:rect r="r" b="b" t="t" l="l"/>
            <a:pathLst>
              <a:path h="3224936" w="3500096">
                <a:moveTo>
                  <a:pt x="0" y="0"/>
                </a:moveTo>
                <a:lnTo>
                  <a:pt x="3500096" y="0"/>
                </a:lnTo>
                <a:lnTo>
                  <a:pt x="350009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1615" y="4577239"/>
            <a:ext cx="2286226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13A8DB"/>
                </a:solidFill>
                <a:latin typeface="Roboto Bold"/>
                <a:ea typeface="Roboto Bold"/>
                <a:cs typeface="Roboto Bold"/>
                <a:sym typeface="Roboto Bold"/>
              </a:rPr>
              <a:t>STREAMLIT UI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8519" y="5161166"/>
            <a:ext cx="2212419" cy="7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presents diagnostics</a:t>
            </a:r>
          </a:p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and user inputs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696976" y="4919394"/>
            <a:ext cx="875024" cy="448211"/>
          </a:xfrm>
          <a:custGeom>
            <a:avLst/>
            <a:gdLst/>
            <a:ahLst/>
            <a:cxnLst/>
            <a:rect r="r" b="b" t="t" l="l"/>
            <a:pathLst>
              <a:path h="448211" w="875024">
                <a:moveTo>
                  <a:pt x="0" y="0"/>
                </a:moveTo>
                <a:lnTo>
                  <a:pt x="875024" y="0"/>
                </a:lnTo>
                <a:lnTo>
                  <a:pt x="87502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72000" y="3640352"/>
            <a:ext cx="3707914" cy="3224936"/>
          </a:xfrm>
          <a:custGeom>
            <a:avLst/>
            <a:gdLst/>
            <a:ahLst/>
            <a:cxnLst/>
            <a:rect r="r" b="b" t="t" l="l"/>
            <a:pathLst>
              <a:path h="3224936" w="3707914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14958" y="4577239"/>
            <a:ext cx="2718464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13A8DB"/>
                </a:solidFill>
                <a:latin typeface="Roboto Bold"/>
                <a:ea typeface="Roboto Bold"/>
                <a:cs typeface="Roboto Bold"/>
                <a:sym typeface="Roboto Bold"/>
              </a:rPr>
              <a:t>DEVICE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62565" y="5161166"/>
            <a:ext cx="2223249" cy="106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provided by the user</a:t>
            </a:r>
          </a:p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or simulated to</a:t>
            </a:r>
          </a:p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generate diagnostics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50220" y="4919394"/>
            <a:ext cx="1093780" cy="448211"/>
          </a:xfrm>
          <a:custGeom>
            <a:avLst/>
            <a:gdLst/>
            <a:ahLst/>
            <a:cxnLst/>
            <a:rect r="r" b="b" t="t" l="l"/>
            <a:pathLst>
              <a:path h="448211" w="1093780">
                <a:moveTo>
                  <a:pt x="0" y="0"/>
                </a:moveTo>
                <a:lnTo>
                  <a:pt x="1093780" y="0"/>
                </a:lnTo>
                <a:lnTo>
                  <a:pt x="109378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25244" y="3640352"/>
            <a:ext cx="3707914" cy="3224936"/>
          </a:xfrm>
          <a:custGeom>
            <a:avLst/>
            <a:gdLst/>
            <a:ahLst/>
            <a:cxnLst/>
            <a:rect r="r" b="b" t="t" l="l"/>
            <a:pathLst>
              <a:path h="3224936" w="3707914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48014" y="4185657"/>
            <a:ext cx="2310422" cy="84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76C43B"/>
                </a:solidFill>
                <a:latin typeface="Roboto Bold"/>
                <a:ea typeface="Roboto Bold"/>
                <a:cs typeface="Roboto Bold"/>
                <a:sym typeface="Roboto Bold"/>
              </a:rPr>
              <a:t>OLLAMA</a:t>
            </a:r>
          </a:p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76C43B"/>
                </a:solidFill>
                <a:latin typeface="Roboto Bold"/>
                <a:ea typeface="Roboto Bold"/>
                <a:cs typeface="Roboto Bold"/>
                <a:sym typeface="Roboto Bold"/>
              </a:rPr>
              <a:t>LOCAL 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40125" y="5206348"/>
            <a:ext cx="2326201" cy="106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open-source AI model</a:t>
            </a:r>
          </a:p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running locally for</a:t>
            </a:r>
          </a:p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on-device inference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403464" y="4919394"/>
            <a:ext cx="2187560" cy="448211"/>
          </a:xfrm>
          <a:custGeom>
            <a:avLst/>
            <a:gdLst/>
            <a:ahLst/>
            <a:cxnLst/>
            <a:rect r="r" b="b" t="t" l="l"/>
            <a:pathLst>
              <a:path h="448211" w="2187560">
                <a:moveTo>
                  <a:pt x="0" y="0"/>
                </a:moveTo>
                <a:lnTo>
                  <a:pt x="2187560" y="0"/>
                </a:lnTo>
                <a:lnTo>
                  <a:pt x="218756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682873" y="4195183"/>
            <a:ext cx="1477967" cy="58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76C43B"/>
                </a:solidFill>
                <a:latin typeface="Roboto Bold"/>
                <a:ea typeface="Roboto Bold"/>
                <a:cs typeface="Roboto Bold"/>
                <a:sym typeface="Roboto Bold"/>
              </a:rPr>
              <a:t>LOW</a:t>
            </a:r>
          </a:p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76C43B"/>
                </a:solidFill>
                <a:latin typeface="Roboto Bold"/>
                <a:ea typeface="Roboto Bold"/>
                <a:cs typeface="Roboto Bold"/>
                <a:sym typeface="Roboto Bold"/>
              </a:rPr>
              <a:t>CONFIDENCE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403464" y="5783021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61330" y="3640352"/>
            <a:ext cx="3281340" cy="3224936"/>
          </a:xfrm>
          <a:custGeom>
            <a:avLst/>
            <a:gdLst/>
            <a:ahLst/>
            <a:cxnLst/>
            <a:rect r="r" b="b" t="t" l="l"/>
            <a:pathLst>
              <a:path h="3224936" w="3281340">
                <a:moveTo>
                  <a:pt x="0" y="0"/>
                </a:moveTo>
                <a:lnTo>
                  <a:pt x="3281340" y="0"/>
                </a:lnTo>
                <a:lnTo>
                  <a:pt x="328134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005732" y="4276022"/>
            <a:ext cx="2263462" cy="84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76C43B"/>
                </a:solidFill>
                <a:latin typeface="Roboto Bold"/>
                <a:ea typeface="Roboto Bold"/>
                <a:cs typeface="Roboto Bold"/>
                <a:sym typeface="Roboto Bold"/>
              </a:rPr>
              <a:t>RULES-BASED</a:t>
            </a:r>
          </a:p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76C43B"/>
                </a:solidFill>
                <a:latin typeface="Roboto Bold"/>
                <a:ea typeface="Roboto Bold"/>
                <a:cs typeface="Roboto Bold"/>
                <a:sym typeface="Roboto Bold"/>
              </a:rPr>
              <a:t>FALLBACK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83311" y="5251531"/>
            <a:ext cx="1908305" cy="106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safe, conservative</a:t>
            </a:r>
          </a:p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system ensures</a:t>
            </a:r>
          </a:p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reliable advice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45330" y="7499343"/>
            <a:ext cx="16997340" cy="218640"/>
          </a:xfrm>
          <a:custGeom>
            <a:avLst/>
            <a:gdLst/>
            <a:ahLst/>
            <a:cxnLst/>
            <a:rect r="r" b="b" t="t" l="l"/>
            <a:pathLst>
              <a:path h="218640" w="16997340">
                <a:moveTo>
                  <a:pt x="0" y="0"/>
                </a:moveTo>
                <a:lnTo>
                  <a:pt x="16997340" y="0"/>
                </a:lnTo>
                <a:lnTo>
                  <a:pt x="1699734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94934" y="7779663"/>
            <a:ext cx="2839590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3A8DB"/>
                </a:solidFill>
                <a:latin typeface="Roboto Bold"/>
                <a:ea typeface="Roboto Bold"/>
                <a:cs typeface="Roboto Bold"/>
                <a:sym typeface="Roboto Bold"/>
              </a:rPr>
              <a:t>INTERACTIVE FRONTEND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3349" y="8128152"/>
            <a:ext cx="2995525" cy="7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central place for diagnostics and user interaction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73600" y="7770137"/>
            <a:ext cx="916608" cy="32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b="true" sz="2047" spc="-60">
                <a:solidFill>
                  <a:srgbClr val="13A8DB"/>
                </a:solidFill>
                <a:latin typeface="Roboto Bold"/>
                <a:ea typeface="Roboto Bold"/>
                <a:cs typeface="Roboto Bold"/>
                <a:sym typeface="Roboto Bold"/>
              </a:rPr>
              <a:t>INPUTS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959765" y="8128151"/>
            <a:ext cx="2300059" cy="106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real device metrics or</a:t>
            </a:r>
          </a:p>
          <a:p>
            <a:pPr algn="l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simulated data power</a:t>
            </a:r>
          </a:p>
          <a:p>
            <a:pPr algn="l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diagnostic generation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73301" y="7770137"/>
            <a:ext cx="1534700" cy="32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b="true" sz="2047" spc="-60">
                <a:solidFill>
                  <a:srgbClr val="76C43B"/>
                </a:solidFill>
                <a:latin typeface="Roboto Bold"/>
                <a:ea typeface="Roboto Bold"/>
                <a:cs typeface="Roboto Bold"/>
                <a:sym typeface="Roboto Bold"/>
              </a:rPr>
              <a:t>AI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55719" y="8128151"/>
            <a:ext cx="3292916" cy="106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local model analyzes metrics and generates clear, actionable guidance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90526" y="7770137"/>
            <a:ext cx="1483355" cy="32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b="true" sz="2047" spc="-60">
                <a:solidFill>
                  <a:srgbClr val="76C43B"/>
                </a:solidFill>
                <a:latin typeface="Roboto Bold"/>
                <a:ea typeface="Roboto Bold"/>
                <a:cs typeface="Roboto Bold"/>
                <a:sym typeface="Roboto Bold"/>
              </a:rPr>
              <a:t>SAFEGUARD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77635" y="8128152"/>
            <a:ext cx="2772470" cy="106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fallback logic provides</a:t>
            </a:r>
          </a:p>
          <a:p>
            <a:pPr algn="l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reliable recommendations when confidence is 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5978" y="1084192"/>
            <a:ext cx="7659206" cy="125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spc="-374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Snapdragon Fit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569017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2842" y="3421712"/>
            <a:ext cx="2843828" cy="2579949"/>
          </a:xfrm>
          <a:custGeom>
            <a:avLst/>
            <a:gdLst/>
            <a:ahLst/>
            <a:cxnLst/>
            <a:rect r="r" b="b" t="t" l="l"/>
            <a:pathLst>
              <a:path h="2579949" w="2843828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6633" y="7059854"/>
            <a:ext cx="2278600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-26">
                <a:solidFill>
                  <a:srgbClr val="109FD4"/>
                </a:solidFill>
                <a:latin typeface="Roboto Bold"/>
                <a:ea typeface="Roboto Bold"/>
                <a:cs typeface="Roboto Bold"/>
                <a:sym typeface="Roboto Bold"/>
              </a:rPr>
              <a:t>ON-DEVICE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2570" y="7592474"/>
            <a:ext cx="3884414" cy="77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188" spc="-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Built for on-device inference, reducing reliance on the cloud.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696976" y="4493047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36086" y="3421712"/>
            <a:ext cx="2843828" cy="2579949"/>
          </a:xfrm>
          <a:custGeom>
            <a:avLst/>
            <a:gdLst/>
            <a:ahLst/>
            <a:cxnLst/>
            <a:rect r="r" b="b" t="t" l="l"/>
            <a:pathLst>
              <a:path h="2579949" w="2843828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92259" y="7059854"/>
            <a:ext cx="2552531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-26">
                <a:solidFill>
                  <a:srgbClr val="109FD4"/>
                </a:solidFill>
                <a:latin typeface="Roboto Bold"/>
                <a:ea typeface="Roboto Bold"/>
                <a:cs typeface="Roboto Bold"/>
                <a:sym typeface="Roboto Bold"/>
              </a:rPr>
              <a:t>PRIVACY FIRST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09555" y="7592474"/>
            <a:ext cx="3589734" cy="77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188" spc="-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Data stays on your device, protecting user privacy.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50220" y="4493047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89330" y="3421712"/>
            <a:ext cx="2843828" cy="2579949"/>
          </a:xfrm>
          <a:custGeom>
            <a:avLst/>
            <a:gdLst/>
            <a:ahLst/>
            <a:cxnLst/>
            <a:rect r="r" b="b" t="t" l="l"/>
            <a:pathLst>
              <a:path h="2579949" w="2843828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93299" y="7059854"/>
            <a:ext cx="2068531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-26">
                <a:solidFill>
                  <a:srgbClr val="60A938"/>
                </a:solidFill>
                <a:latin typeface="Roboto Bold"/>
                <a:ea typeface="Roboto Bold"/>
                <a:cs typeface="Roboto Bold"/>
                <a:sym typeface="Roboto Bold"/>
              </a:rPr>
              <a:t>LOW POWER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02961" y="7572788"/>
            <a:ext cx="3723680" cy="122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232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Optimized for efficiency on Snapdragon-powered</a:t>
            </a:r>
          </a:p>
          <a:p>
            <a:pPr algn="ctr">
              <a:lnSpc>
                <a:spcPts val="3366"/>
              </a:lnSpc>
            </a:pPr>
            <a:r>
              <a:rPr lang="en-US" sz="232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HP laptops.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403464" y="4493047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42574" y="3421712"/>
            <a:ext cx="2843828" cy="2579949"/>
          </a:xfrm>
          <a:custGeom>
            <a:avLst/>
            <a:gdLst/>
            <a:ahLst/>
            <a:cxnLst/>
            <a:rect r="r" b="b" t="t" l="l"/>
            <a:pathLst>
              <a:path h="2579949" w="2843828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822582" y="7059854"/>
            <a:ext cx="3481049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-26">
                <a:solidFill>
                  <a:srgbClr val="60A938"/>
                </a:solidFill>
                <a:latin typeface="Roboto Bold"/>
                <a:ea typeface="Roboto Bold"/>
                <a:cs typeface="Roboto Bold"/>
                <a:sym typeface="Roboto Bold"/>
              </a:rPr>
              <a:t>FUTURE VALIDATION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28477" y="7572788"/>
            <a:ext cx="4152305" cy="122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232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Performance will be validated and fine-tuned on Snapdragon hardware.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01598" y="5783021"/>
            <a:ext cx="2625072" cy="863627"/>
          </a:xfrm>
          <a:custGeom>
            <a:avLst/>
            <a:gdLst/>
            <a:ahLst/>
            <a:cxnLst/>
            <a:rect r="r" b="b" t="t" l="l"/>
            <a:pathLst>
              <a:path h="863627" w="2625072">
                <a:moveTo>
                  <a:pt x="0" y="0"/>
                </a:moveTo>
                <a:lnTo>
                  <a:pt x="2625072" y="0"/>
                </a:lnTo>
                <a:lnTo>
                  <a:pt x="262507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436086" y="5783021"/>
            <a:ext cx="2843828" cy="863627"/>
          </a:xfrm>
          <a:custGeom>
            <a:avLst/>
            <a:gdLst/>
            <a:ahLst/>
            <a:cxnLst/>
            <a:rect r="r" b="b" t="t" l="l"/>
            <a:pathLst>
              <a:path h="863627" w="2843828">
                <a:moveTo>
                  <a:pt x="0" y="0"/>
                </a:moveTo>
                <a:lnTo>
                  <a:pt x="2843828" y="0"/>
                </a:lnTo>
                <a:lnTo>
                  <a:pt x="2843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89330" y="5783021"/>
            <a:ext cx="2843828" cy="863627"/>
          </a:xfrm>
          <a:custGeom>
            <a:avLst/>
            <a:gdLst/>
            <a:ahLst/>
            <a:cxnLst/>
            <a:rect r="r" b="b" t="t" l="l"/>
            <a:pathLst>
              <a:path h="863627" w="2843828">
                <a:moveTo>
                  <a:pt x="0" y="0"/>
                </a:moveTo>
                <a:lnTo>
                  <a:pt x="2843828" y="0"/>
                </a:lnTo>
                <a:lnTo>
                  <a:pt x="2843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142574" y="5783021"/>
            <a:ext cx="2843828" cy="863627"/>
          </a:xfrm>
          <a:custGeom>
            <a:avLst/>
            <a:gdLst/>
            <a:ahLst/>
            <a:cxnLst/>
            <a:rect r="r" b="b" t="t" l="l"/>
            <a:pathLst>
              <a:path h="863627" w="2843828">
                <a:moveTo>
                  <a:pt x="0" y="0"/>
                </a:moveTo>
                <a:lnTo>
                  <a:pt x="2843828" y="0"/>
                </a:lnTo>
                <a:lnTo>
                  <a:pt x="2843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897" y="1001928"/>
            <a:ext cx="7319679" cy="2165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9"/>
              </a:lnSpc>
            </a:pPr>
            <a:r>
              <a:rPr lang="en-US" sz="8319" spc="-81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Safety, Limits &amp; Validation Plan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421712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393" y="4134579"/>
            <a:ext cx="8370040" cy="152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0"/>
              </a:lnSpc>
            </a:pPr>
            <a:r>
              <a:rPr lang="en-US" sz="2478" spc="-24" b="true">
                <a:solidFill>
                  <a:srgbClr val="24B2D7"/>
                </a:solidFill>
                <a:latin typeface="Roboto Bold"/>
                <a:ea typeface="Roboto Bold"/>
                <a:cs typeface="Roboto Bold"/>
                <a:sym typeface="Roboto Bold"/>
              </a:rPr>
              <a:t>Ai provides</a:t>
            </a: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diagnostic suggestions, not guaranteed fixes</a:t>
            </a:r>
          </a:p>
          <a:p>
            <a:pPr algn="l">
              <a:lnSpc>
                <a:spcPts val="4090"/>
              </a:lnSpc>
            </a:pPr>
            <a:r>
              <a:rPr lang="en-US" sz="2478" spc="-24" b="true">
                <a:solidFill>
                  <a:srgbClr val="24B2D7"/>
                </a:solidFill>
                <a:latin typeface="Roboto Bold"/>
                <a:ea typeface="Roboto Bold"/>
                <a:cs typeface="Roboto Bold"/>
                <a:sym typeface="Roboto Bold"/>
              </a:rPr>
              <a:t>Rules-based fallback</a:t>
            </a: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prevents unsafe or uncertain advice</a:t>
            </a:r>
          </a:p>
          <a:p>
            <a:pPr algn="l">
              <a:lnSpc>
                <a:spcPts val="4090"/>
              </a:lnSpc>
            </a:pPr>
            <a:r>
              <a:rPr lang="en-US" sz="2478" spc="-24" b="true">
                <a:solidFill>
                  <a:srgbClr val="24B2D7"/>
                </a:solidFill>
                <a:latin typeface="Roboto Bold"/>
                <a:ea typeface="Roboto Bold"/>
                <a:cs typeface="Roboto Bold"/>
                <a:sym typeface="Roboto Bold"/>
              </a:rPr>
              <a:t>Prototype status</a:t>
            </a: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emphasizes future optimization and testing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6209369"/>
            <a:ext cx="9154938" cy="229572"/>
          </a:xfrm>
          <a:custGeom>
            <a:avLst/>
            <a:gdLst/>
            <a:ahLst/>
            <a:cxnLst/>
            <a:rect r="r" b="b" t="t" l="l"/>
            <a:pathLst>
              <a:path h="229572" w="9154938">
                <a:moveTo>
                  <a:pt x="0" y="0"/>
                </a:moveTo>
                <a:lnTo>
                  <a:pt x="9154938" y="0"/>
                </a:lnTo>
                <a:lnTo>
                  <a:pt x="915493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9353" y="6998504"/>
            <a:ext cx="8074100" cy="184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478" spc="-24" b="true">
                <a:solidFill>
                  <a:srgbClr val="81C44A"/>
                </a:solidFill>
                <a:latin typeface="Roboto Bold"/>
                <a:ea typeface="Roboto Bold"/>
                <a:cs typeface="Roboto Bold"/>
                <a:sym typeface="Roboto Bold"/>
              </a:rPr>
              <a:t>Simulated</a:t>
            </a: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environment testing with diverse device metrics</a:t>
            </a:r>
          </a:p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</a:t>
            </a:r>
            <a:r>
              <a:rPr lang="en-US" sz="2478" spc="-24" b="true">
                <a:solidFill>
                  <a:srgbClr val="81C44A"/>
                </a:solidFill>
                <a:latin typeface="Roboto Bold"/>
                <a:ea typeface="Roboto Bold"/>
                <a:cs typeface="Roboto Bold"/>
                <a:sym typeface="Roboto Bold"/>
              </a:rPr>
              <a:t>feedback</a:t>
            </a: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cycles for iterative improvement</a:t>
            </a:r>
          </a:p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Planned </a:t>
            </a:r>
            <a:r>
              <a:rPr lang="en-US" sz="2478" spc="-24" b="true">
                <a:solidFill>
                  <a:srgbClr val="81C44A"/>
                </a:solidFill>
                <a:latin typeface="Roboto Bold"/>
                <a:ea typeface="Roboto Bold"/>
                <a:cs typeface="Roboto Bold"/>
                <a:sym typeface="Roboto Bold"/>
              </a:rPr>
              <a:t>performance</a:t>
            </a: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and compatibility validation</a:t>
            </a:r>
          </a:p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 Snapdragon HP devices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831464" y="1705390"/>
            <a:ext cx="10456536" cy="8155262"/>
          </a:xfrm>
          <a:custGeom>
            <a:avLst/>
            <a:gdLst/>
            <a:ahLst/>
            <a:cxnLst/>
            <a:rect r="r" b="b" t="t" l="l"/>
            <a:pathLst>
              <a:path h="8155262" w="10456536">
                <a:moveTo>
                  <a:pt x="0" y="0"/>
                </a:moveTo>
                <a:lnTo>
                  <a:pt x="10456536" y="0"/>
                </a:lnTo>
                <a:lnTo>
                  <a:pt x="10456536" y="8155262"/>
                </a:lnTo>
                <a:lnTo>
                  <a:pt x="0" y="81552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7156" y="1264559"/>
            <a:ext cx="8541390" cy="99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90"/>
              </a:lnSpc>
            </a:pPr>
            <a:r>
              <a:rPr lang="en-US" sz="7590" spc="-151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Impact &amp; Next Steps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56901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0689" y="3412397"/>
            <a:ext cx="1545921" cy="43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3212" b="true">
                <a:solidFill>
                  <a:srgbClr val="0FA4DA"/>
                </a:solidFill>
                <a:latin typeface="Roboto Bold"/>
                <a:ea typeface="Roboto Bold"/>
                <a:cs typeface="Roboto Bold"/>
                <a:sym typeface="Roboto Bold"/>
              </a:rPr>
              <a:t>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8132" y="4303296"/>
            <a:ext cx="3801598" cy="81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337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Empowers users with private, efficient troubleshooting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8312" y="5766221"/>
            <a:ext cx="3783645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spc="-24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Reduces support costs and improves device uptime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8881" y="7240959"/>
            <a:ext cx="3726744" cy="883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1" spc="-25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Advances AI integration on Snapdragon platforms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0052" y="3411478"/>
            <a:ext cx="2510462" cy="45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379" b="true">
                <a:solidFill>
                  <a:srgbClr val="57BE46"/>
                </a:solidFill>
                <a:latin typeface="Roboto Bold"/>
                <a:ea typeface="Roboto Bold"/>
                <a:cs typeface="Roboto Bold"/>
                <a:sym typeface="Roboto Bold"/>
              </a:rPr>
              <a:t>NEXT STEPS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393952" y="5783021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56440" y="4711687"/>
            <a:ext cx="1104718" cy="1289974"/>
          </a:xfrm>
          <a:custGeom>
            <a:avLst/>
            <a:gdLst/>
            <a:ahLst/>
            <a:cxnLst/>
            <a:rect r="r" b="b" t="t" l="l"/>
            <a:pathLst>
              <a:path h="1289974" w="1104718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65000" y="5109379"/>
            <a:ext cx="257945" cy="5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8"/>
              </a:lnSpc>
            </a:pPr>
            <a:r>
              <a:rPr lang="en-US" sz="4308">
                <a:solidFill>
                  <a:srgbClr val="0FA4DA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88456" y="6833683"/>
            <a:ext cx="3058027" cy="135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781" spc="-2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Optimize AI models for Snapdragon</a:t>
            </a:r>
          </a:p>
          <a:p>
            <a:pPr algn="ctr">
              <a:lnSpc>
                <a:spcPts val="3615"/>
              </a:lnSpc>
            </a:pPr>
            <a:r>
              <a:rPr lang="en-US" sz="2781" spc="-2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on-device inference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831464" y="4711687"/>
            <a:ext cx="3062584" cy="863627"/>
          </a:xfrm>
          <a:custGeom>
            <a:avLst/>
            <a:gdLst/>
            <a:ahLst/>
            <a:cxnLst/>
            <a:rect r="r" b="b" t="t" l="l"/>
            <a:pathLst>
              <a:path h="863627" w="3062584">
                <a:moveTo>
                  <a:pt x="0" y="0"/>
                </a:moveTo>
                <a:lnTo>
                  <a:pt x="3062584" y="0"/>
                </a:lnTo>
                <a:lnTo>
                  <a:pt x="306258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01866" y="5138034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64354" y="4066699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67614" y="6930524"/>
            <a:ext cx="3179908" cy="117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5"/>
              </a:lnSpc>
            </a:pPr>
            <a:r>
              <a:rPr lang="en-US" sz="2381" spc="-23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Develop richer diagnostics and expand device coverage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747196" y="4493047"/>
            <a:ext cx="2406316" cy="655919"/>
          </a:xfrm>
          <a:custGeom>
            <a:avLst/>
            <a:gdLst/>
            <a:ahLst/>
            <a:cxnLst/>
            <a:rect r="r" b="b" t="t" l="l"/>
            <a:pathLst>
              <a:path h="655919" w="2406316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580086" y="5138034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142574" y="4066699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529166" y="6957061"/>
            <a:ext cx="2749858" cy="157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</a:pPr>
            <a:r>
              <a:rPr lang="en-US" sz="2438" spc="-23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Collaborate with</a:t>
            </a:r>
          </a:p>
          <a:p>
            <a:pPr algn="ctr">
              <a:lnSpc>
                <a:spcPts val="3170"/>
              </a:lnSpc>
            </a:pPr>
            <a:r>
              <a:rPr lang="en-US" sz="2438" spc="-23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HP and Snapdragon teams for validation and deployment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236354" y="4493047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142258" y="4476824"/>
            <a:ext cx="257945" cy="5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8"/>
              </a:lnSpc>
            </a:pPr>
            <a:r>
              <a:rPr lang="en-US" b="true" sz="4308">
                <a:solidFill>
                  <a:srgbClr val="0FA4DA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51625" y="4476824"/>
            <a:ext cx="257945" cy="5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8"/>
              </a:lnSpc>
            </a:pPr>
            <a:r>
              <a:rPr lang="en-US" b="true" sz="4308">
                <a:solidFill>
                  <a:srgbClr val="57BE46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DAHWraaMht0</dc:identifier>
  <dcterms:modified xsi:type="dcterms:W3CDTF">2011-08-01T06:04:30Z</dcterms:modified>
  <cp:revision>1</cp:revision>
  <dc:title>Snapdragon Sense Pitch</dc:title>
</cp:coreProperties>
</file>